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BECD"/>
                </a:solidFill>
              </a:defRPr>
            </a:pPr>
            <a:r>
              <a:t>PROCESSAMENTO DIGITAL DE IMAGENS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Face Privacy Blur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D7DCE6"/>
                </a:solidFill>
              </a:defRPr>
            </a:pPr>
            <a:r>
              <a:t>Detecção de rostos e desfoque localizado para privacidade em uma única imagem urbana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658368"/>
            <a:ext cx="59893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71031" y="749808"/>
            <a:ext cx="5660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Resultado final</a:t>
            </a:r>
          </a:p>
        </p:txBody>
      </p:sp>
      <p:pic>
        <p:nvPicPr>
          <p:cNvPr id="7" name="Picture 6" descr="final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288161"/>
            <a:ext cx="5769864" cy="43273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98932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4C3"/>
                </a:solidFill>
              </a:defRPr>
            </a:pPr>
            <a:r>
              <a:t>Fonte da imagem: Wikimedia Commons — Street Crowd.jpg — CC0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CASO ESCOLHIDO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O foco principal é privacidade facial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O projeto se enquadra diretamente no exemplo: detectar rostos e aplicar desfoque para privacidade.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7160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Problema realista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25526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Cenas urbanas podem expor rostos de pessoas.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Privacidade exige reduzir informação identificável.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O escopo é pequeno: uma imagem, um pipeline, um painel.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As demais técnicas entram como análise e apoio.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80160"/>
            <a:ext cx="7086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371600"/>
            <a:ext cx="6757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Imagem única usada no projeto</a:t>
            </a:r>
          </a:p>
        </p:txBody>
      </p:sp>
      <p:pic>
        <p:nvPicPr>
          <p:cNvPr id="11" name="Picture 10" descr="street_crow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1737360"/>
            <a:ext cx="4949952" cy="3712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Um caso principal e três complementos do enunciado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defesa deve deixar claro que o caso escolhido é privacidade facial.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Caso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91640"/>
            <a:ext cx="2340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Detectar rostos.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Aplicar desfoque.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Preservar privacidade.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Não reconhecer identidade.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2743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32588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PDI clássica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691640"/>
            <a:ext cx="2340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Blur.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Threshold.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Sobel/Canny.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Harris/ORB.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234440"/>
            <a:ext cx="27432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32588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Composição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691640"/>
            <a:ext cx="234086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ROI facial.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Máscara.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Blend.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Paste.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1234440"/>
            <a:ext cx="1920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11512" y="1325880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YOLO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8088" y="1691640"/>
            <a:ext cx="15179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86074"/>
                </a:solidFill>
              </a:defRPr>
            </a:pPr>
            <a:r>
              <a:t>• Pessoa.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Caixa.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Classe.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MODELO MATEMÁTICO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Uma imagem digital é uma matriz de pixels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base do projeto é transformar e interpretar matrizes.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11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Imagem 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I(x,y) = [R,G,B]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Cada pixel tem posição e três canais de cor. O processamento transforma esses valores para extrair informação.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611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325880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Escala de cinza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Y = 0,299R + 0,587G + 0,114B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luminância reduz a imagem para uma matriz e aproxima a sensibilidade visual humana.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27889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325880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ROI facial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64792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B = (x1,y1,x2,y2)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5856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Cada rosto detectado vira uma submatriz retangular da imagem.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703320"/>
            <a:ext cx="101498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1" y="3794759"/>
            <a:ext cx="9820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Imagem como dados numéricos</a:t>
            </a:r>
          </a:p>
        </p:txBody>
      </p:sp>
      <p:pic>
        <p:nvPicPr>
          <p:cNvPr id="20" name="Picture 19" descr="street_crow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24" y="4160520"/>
            <a:ext cx="1962911" cy="1472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DETECÇÃO FACIAL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Haar Cascade procura padrões de contraste parecidos com rosto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O detector clássico localiza regiões candidatas antes do blur.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Haar-like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f = soma(A) − soma(B)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O detector compara somas de intensidades em regiões claras e escuras. Isso captura padrões como olhos, nariz e testa.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Integral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S(x,y)=Σ I(i,j)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5856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imagem integral acelera o cálculo de somas retangulares, permitindo varrer a imagem em várias escalas.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234440"/>
            <a:ext cx="2834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132588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No 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691640"/>
            <a:ext cx="24323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074"/>
                </a:solidFill>
              </a:defRPr>
            </a:pPr>
            <a:r>
              <a:t>• 8 rostos/possíveis rostos.</a:t>
            </a:r>
          </a:p>
          <a:p>
            <a:pPr>
              <a:defRPr sz="1000">
                <a:solidFill>
                  <a:srgbClr val="586074"/>
                </a:solidFill>
              </a:defRPr>
            </a:pPr>
            <a:r>
              <a:t>• Caixas azuis no quadro 1.</a:t>
            </a:r>
          </a:p>
          <a:p>
            <a:pPr>
              <a:defRPr sz="1000">
                <a:solidFill>
                  <a:srgbClr val="586074"/>
                </a:solidFill>
              </a:defRPr>
            </a:pPr>
            <a:r>
              <a:t>• Base para a máscara facial.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107899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40479"/>
            <a:ext cx="10460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No painel: quadro 1 mostra rostos detectados</a:t>
            </a:r>
          </a:p>
        </p:txBody>
      </p:sp>
      <p:pic>
        <p:nvPicPr>
          <p:cNvPr id="19" name="Picture 18" descr="fina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713" y="4206240"/>
            <a:ext cx="3312413" cy="1472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PRÉ-PROCESSAMENTO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Blur reduz ruído; threshold separa regiões por intensidade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Essa etapa ajuda a interpretar a imagem antes da privacidade final.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Gaussian Blur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I' = Gσ *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200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Convolução: cada pixel vira média ponderada da vizinhança, reduzindo ruídos locais.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Median Blur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I'(x,y) = mediana(vizinhança)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58568"/>
            <a:ext cx="32004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Filtro robusto contra valores extremos, útil para suavizar sem destruir totalmente bordas.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234440"/>
            <a:ext cx="2926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132588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Otsu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6479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t* = argmin σ²w(t)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58568"/>
            <a:ext cx="2468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Escolhe automaticamente o limiar que separa melhor claro e escuro.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20440"/>
            <a:ext cx="10789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611880"/>
            <a:ext cx="10460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No painel: quadro 2 mostra blur + threshold</a:t>
            </a:r>
          </a:p>
        </p:txBody>
      </p:sp>
      <p:pic>
        <p:nvPicPr>
          <p:cNvPr id="20" name="Picture 19" descr="fina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668" y="3977639"/>
            <a:ext cx="4032504" cy="1792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BORDAS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Bordas aparecem onde a intensidade muda rapidamente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matemática aqui é derivada discreta sobre a matriz de pixels.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Sobel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|∇I| = √(Ix² + Iy²)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Sobel estima derivadas horizontal e vertical. Quanto maior o gradiente, mais provável é uma borda.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Canny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blur → gradiente → supressão → histerese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58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Canny combina suavização, direção do gradiente, afinamento e limiares duplos.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234440"/>
            <a:ext cx="2834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132588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Aplicação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691640"/>
            <a:ext cx="24323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86074"/>
                </a:solidFill>
              </a:defRPr>
            </a:pPr>
            <a:r>
              <a:t>• Contornos de rostos e corpos.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Separação roupa/fundo.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Estrutura visual da multidão.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10789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94759"/>
            <a:ext cx="10460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No painel: quadro 3 mostra as bordas Canny</a:t>
            </a:r>
          </a:p>
        </p:txBody>
      </p:sp>
      <p:pic>
        <p:nvPicPr>
          <p:cNvPr id="19" name="Picture 18" descr="fina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843" y="4160520"/>
            <a:ext cx="3518154" cy="1563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CANTOS E PONTOS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Harris e ORB mostram regiões visualmente informativas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Essas técnicas não desfocam rostos; elas explicam a estrutura da cena.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4023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Harris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R = det(M) − k·trace(M)²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matriz M resume variações locais. Quando há variação em duas direções, a região tende a ser canto.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23444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1" y="1325880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ORB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6479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keypoint + descriptor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58568"/>
            <a:ext cx="2743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ORB detecta pontos robustos e descreve padrões locais com vetores binários.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234440"/>
            <a:ext cx="2926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32588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No 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169164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074"/>
                </a:solidFill>
              </a:defRPr>
            </a:pPr>
            <a:r>
              <a:t>• Texturas de roupa.</a:t>
            </a:r>
          </a:p>
          <a:p>
            <a:pPr>
              <a:defRPr sz="1000">
                <a:solidFill>
                  <a:srgbClr val="586074"/>
                </a:solidFill>
              </a:defRPr>
            </a:pPr>
            <a:r>
              <a:t>• Bordas de rosto.</a:t>
            </a:r>
          </a:p>
          <a:p>
            <a:pPr>
              <a:defRPr sz="1000">
                <a:solidFill>
                  <a:srgbClr val="586074"/>
                </a:solidFill>
              </a:defRPr>
            </a:pPr>
            <a:r>
              <a:t>• Letras e objetos.</a:t>
            </a:r>
          </a:p>
          <a:p>
            <a:pPr>
              <a:defRPr sz="1000">
                <a:solidFill>
                  <a:srgbClr val="586074"/>
                </a:solidFill>
              </a:defRPr>
            </a:pPr>
            <a:r>
              <a:t>• Pontos verdes no quadro 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107899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40479"/>
            <a:ext cx="10460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No painel: quadro 4 mostra os pontos ORB</a:t>
            </a:r>
          </a:p>
        </p:txBody>
      </p:sp>
      <p:pic>
        <p:nvPicPr>
          <p:cNvPr id="19" name="Picture 18" descr="fina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713" y="4206240"/>
            <a:ext cx="3312413" cy="1472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MÁSCARA E PRIVACIDADE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O blur é aplicado só onde a máscara facial é positiva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Essa é a etapa central do caso escolhido pelo grupo.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Máscara binária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M(x,y) ∈ {0,1}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máscara marca pixels dentro das regiões faciais. Fora da máscara, a imagem original é preservada.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657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Composição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Iout = M·Blur(I)+(1−M)·I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5856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saída mistura imagem desfocada nas faces e imagem original no restante.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23444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32588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Máscara facial</a:t>
            </a:r>
          </a:p>
        </p:txBody>
      </p:sp>
      <p:pic>
        <p:nvPicPr>
          <p:cNvPr id="16" name="Picture 15" descr="face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424" y="1691640"/>
            <a:ext cx="2206752" cy="165506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22960" y="3749039"/>
            <a:ext cx="107899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40479"/>
            <a:ext cx="10460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Resultado: faces desfocadas e cena preservada</a:t>
            </a:r>
          </a:p>
        </p:txBody>
      </p:sp>
      <p:pic>
        <p:nvPicPr>
          <p:cNvPr id="19" name="Picture 18" descr="final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464" y="4206240"/>
            <a:ext cx="1962911" cy="1472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ROI, BLEND E PASTE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A composição visual demonstra manipulação local da imagem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O requisito de ROI/máscara/blend/paste é atendido sobre as regiões faciais.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face = I[y1:y2,x1:x2]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Cada rosto é extraído como subimagem e processado localmente.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Paste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I[35:185,35:185] ← ROI blur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58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Uma ROI facial desfocada é ampliada e colada no canto como detalhe visual.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234440"/>
            <a:ext cx="2834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132588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Por que isso importa?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691640"/>
            <a:ext cx="24323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86074"/>
                </a:solidFill>
              </a:defRPr>
            </a:pPr>
            <a:r>
              <a:t>• Mostra ROI.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Mostra máscara.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Mostra blend.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Mostra paste.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107899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794759"/>
            <a:ext cx="10460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Imagem final com inset da ROI desfocada</a:t>
            </a:r>
          </a:p>
        </p:txBody>
      </p:sp>
      <p:pic>
        <p:nvPicPr>
          <p:cNvPr id="19" name="Picture 18" descr="final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4160520"/>
            <a:ext cx="2084831" cy="1563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YOLO complementa o projeto detectando pessoas na mesma 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Assim também atendemos o caso de identificar objetos em ambiente externo.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2588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No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91640"/>
            <a:ext cx="32552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Modelo ONNX pré-treinado.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OpenCV DNN.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Filtro da classe `person`.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Caixas e scores de confiança.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32588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Confiança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6479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430"/>
                </a:solidFill>
              </a:defRPr>
            </a:pPr>
            <a:r>
              <a:t>score = P(objeto)·P(classe)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caixa é aceita se a confiança passar do limiar. Caixas redundantes são filtradas por NMS.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108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325880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Quadro YOLO no painel</a:t>
            </a:r>
          </a:p>
        </p:txBody>
      </p:sp>
      <p:pic>
        <p:nvPicPr>
          <p:cNvPr id="15" name="Picture 14" descr="fina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2951480"/>
            <a:ext cx="2889504" cy="12842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PAINEL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Um único painel mostra todo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Este é o principal artefato para a defesa.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55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80160"/>
            <a:ext cx="10826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Seis quadros: rostos, threshold, Canny, ORB, YOLO e privacidade</a:t>
            </a:r>
          </a:p>
        </p:txBody>
      </p:sp>
      <p:pic>
        <p:nvPicPr>
          <p:cNvPr id="8" name="Picture 7" descr="fina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42" y="1645920"/>
            <a:ext cx="10101834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O sistema é uma demonstração controlada, não uma solução de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Limitações bem explicadas deixam a defesa mais forte.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25880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Limitações técnicas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91640"/>
            <a:ext cx="4809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Haar Cascade pode gerar falsos positivos.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Rostos laterais ou ocluídos podem não ser detectados.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YOLO detecta pessoas, não necessariamente faces.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Iluminação e escala afetam a detecção.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25880"/>
            <a:ext cx="4882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Limitações éticas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691640"/>
            <a:ext cx="4809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Não é reconhecimento facial.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Não identifica nome ou documento.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Reduz exposição visual, não garante anonimato perfeito.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Uso real exigiria validação mais rigorosa.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Plano de fala para defender com proficiência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Use esta sequência na apresentação ao vivo.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258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1. Rodar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91640"/>
            <a:ext cx="29809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86074"/>
                </a:solidFill>
              </a:defRPr>
            </a:pPr>
            <a:r>
              <a:t>• `python -m src.main`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Mostrar que gera painel único.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Se YOLO falhar: `--skip-yolo`.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3258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2. Explicar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691640"/>
            <a:ext cx="29809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86074"/>
                </a:solidFill>
              </a:defRPr>
            </a:pPr>
            <a:r>
              <a:t>• Imagem como matriz.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Face ROI.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Máscara binária.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Blur localizado.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Bordas/cantos e YOLO.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23444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325880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3. Fechar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1691640"/>
            <a:ext cx="29809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86074"/>
                </a:solidFill>
              </a:defRPr>
            </a:pPr>
            <a:r>
              <a:t>• Caso principal atendido.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Complementos atendidos.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Matemática aplicada.</a:t>
            </a:r>
          </a:p>
          <a:p>
            <a:pPr>
              <a:defRPr sz="1100">
                <a:solidFill>
                  <a:srgbClr val="586074"/>
                </a:solidFill>
              </a:defRPr>
            </a:pPr>
            <a:r>
              <a:t>• Limitações honestas.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109728"/>
            <a:ext cx="137160" cy="137160"/>
          </a:xfrm>
          <a:prstGeom prst="roundRect">
            <a:avLst/>
          </a:prstGeom>
          <a:solidFill>
            <a:srgbClr val="009169"/>
          </a:solidFill>
          <a:ln>
            <a:solidFill>
              <a:srgbClr val="00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86074"/>
                </a:solidFill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430"/>
                </a:solidFill>
              </a:defRPr>
            </a:pPr>
            <a:r>
              <a:t>O projeto atende o caso de privacidade facial e ainda cobre os complementos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86074"/>
                </a:solidFill>
              </a:defRPr>
            </a:pPr>
            <a:r>
              <a:t>A força da entrega é conectar matemática, código e resultado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71600"/>
            <a:ext cx="479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Mensagem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4718303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86074"/>
                </a:solidFill>
              </a:defRPr>
            </a:pPr>
            <a:r>
              <a:t>• O objetivo principal é detectar rostos e desfocá-los.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As técnicas clássicas explicam a estrutura visual.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YOLO detecta pessoas como objeto complementar.</a:t>
            </a:r>
          </a:p>
          <a:p>
            <a:pPr>
              <a:defRPr sz="1200">
                <a:solidFill>
                  <a:srgbClr val="586074"/>
                </a:solidFill>
              </a:defRPr>
            </a:pPr>
            <a:r>
              <a:t>• ROI, máscara, blend e paste aparecem no resultado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371600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430"/>
                </a:solidFill>
              </a:defRPr>
            </a:pPr>
            <a:r>
              <a:t>Artefato final</a:t>
            </a:r>
          </a:p>
        </p:txBody>
      </p:sp>
      <p:pic>
        <p:nvPicPr>
          <p:cNvPr id="11" name="Picture 10" descr="final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738503"/>
            <a:ext cx="4946904" cy="37101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9893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5D53"/>
                </a:solidFill>
              </a:defRPr>
            </a:pPr>
            <a:r>
              <a:t>Pergunta esperada: “isso reconhece pessoas?” Resposta: não; o objetivo é desfocar faces para privacidade.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